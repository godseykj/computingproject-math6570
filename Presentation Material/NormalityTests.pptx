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73" r:id="rId3"/>
    <p:sldId id="298" r:id="rId4"/>
    <p:sldId id="277" r:id="rId5"/>
    <p:sldId id="263" r:id="rId6"/>
    <p:sldId id="275" r:id="rId7"/>
    <p:sldId id="276" r:id="rId8"/>
    <p:sldId id="290" r:id="rId9"/>
    <p:sldId id="299" r:id="rId10"/>
    <p:sldId id="300" r:id="rId11"/>
    <p:sldId id="285" r:id="rId12"/>
    <p:sldId id="291" r:id="rId13"/>
    <p:sldId id="301" r:id="rId14"/>
    <p:sldId id="289" r:id="rId15"/>
    <p:sldId id="278" r:id="rId16"/>
    <p:sldId id="286" r:id="rId17"/>
    <p:sldId id="302" r:id="rId18"/>
    <p:sldId id="303" r:id="rId19"/>
    <p:sldId id="296" r:id="rId20"/>
    <p:sldId id="29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5" autoAdjust="0"/>
    <p:restoredTop sz="90055" autoAdjust="0"/>
  </p:normalViewPr>
  <p:slideViewPr>
    <p:cSldViewPr snapToGrid="0">
      <p:cViewPr>
        <p:scale>
          <a:sx n="38" d="100"/>
          <a:sy n="38" d="100"/>
        </p:scale>
        <p:origin x="68" y="6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468CB45-E7D7-48AD-A585-F48390CF586D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E8FFCA1-B05C-4F5E-B5D8-A75282B620A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91693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8CB45-E7D7-48AD-A585-F48390CF586D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FFCA1-B05C-4F5E-B5D8-A75282B62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892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68CB45-E7D7-48AD-A585-F48390CF586D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8FFCA1-B05C-4F5E-B5D8-A75282B620A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920616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8CB45-E7D7-48AD-A585-F48390CF586D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FFCA1-B05C-4F5E-B5D8-A75282B62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296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8CB45-E7D7-48AD-A585-F48390CF586D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FFCA1-B05C-4F5E-B5D8-A75282B62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07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8CB45-E7D7-48AD-A585-F48390CF586D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FFCA1-B05C-4F5E-B5D8-A75282B62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950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8CB45-E7D7-48AD-A585-F48390CF586D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FFCA1-B05C-4F5E-B5D8-A75282B62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8012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68CB45-E7D7-48AD-A585-F48390CF586D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8FFCA1-B05C-4F5E-B5D8-A75282B620A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557403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68CB45-E7D7-48AD-A585-F48390CF586D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8FFCA1-B05C-4F5E-B5D8-A75282B620A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26132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8CB45-E7D7-48AD-A585-F48390CF586D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FFCA1-B05C-4F5E-B5D8-A75282B62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193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8CB45-E7D7-48AD-A585-F48390CF586D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FFCA1-B05C-4F5E-B5D8-A75282B62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202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D468CB45-E7D7-48AD-A585-F48390CF586D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FE8FFCA1-B05C-4F5E-B5D8-A75282B620A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52294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maadnan@bgsu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109B2-68AB-4ABF-8953-F5E51F51CA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269" y="821741"/>
            <a:ext cx="10429461" cy="1266437"/>
          </a:xfrm>
          <a:noFill/>
        </p:spPr>
        <p:txBody>
          <a:bodyPr anchor="ctr"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various types of normality tests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EDF7F6-7884-48DD-B2E3-A176282E4C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8156" y="2088178"/>
            <a:ext cx="6448892" cy="3034747"/>
          </a:xfrm>
          <a:noFill/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Written by: B. W. Yap and C. H. Sim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Replicated by: Jeremiah Allis, Kara Godsey, 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Mansi </a:t>
            </a:r>
            <a:r>
              <a:rPr lang="en-US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Darji</a:t>
            </a:r>
            <a:r>
              <a:rPr 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Mian</a:t>
            </a:r>
            <a:r>
              <a:rPr 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Adnan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Bowling Green State University, OH 43402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maadnan@bgsu.edu</a:t>
            </a:r>
            <a:endParaRPr lang="en-US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 6570 Project Presentation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 2021 BGSU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December 13, 2021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44490-0696-450B-871A-DB41D6F716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56960" cy="82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907648"/>
      </p:ext>
    </p:extLst>
  </p:cSld>
  <p:clrMapOvr>
    <a:masterClrMapping/>
  </p:clrMapOvr>
  <p:transition spd="slow">
    <p:comb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29BB5-1A0C-4780-A392-0FA200173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4181" y="685800"/>
            <a:ext cx="6562905" cy="65267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25" name="Rectangle 20">
            <a:extLst>
              <a:ext uri="{FF2B5EF4-FFF2-40B4-BE49-F238E27FC236}">
                <a16:creationId xmlns:a16="http://schemas.microsoft.com/office/drawing/2014/main" id="{6B205BC3-0B06-4EA6-9066-1A0BEC22C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3" name="Content Placeholder 3">
            <a:extLst>
              <a:ext uri="{FF2B5EF4-FFF2-40B4-BE49-F238E27FC236}">
                <a16:creationId xmlns:a16="http://schemas.microsoft.com/office/drawing/2014/main" id="{9714E75F-4BF3-4AE8-A432-F4E10B73C69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3562" y="1444487"/>
            <a:ext cx="3613752" cy="4060725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E04C7-10BF-475F-9F26-BDFE68CBC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539" y="1338469"/>
            <a:ext cx="7116417" cy="434671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several normality tests for univariate sample like Shapiro-Wilk test, Kolmogorov test, Lilliefors test, Creamer-von Mises test, Anderson-Darling test, D’Agostino Pearson test,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Jarque-Bera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test, chi-square test. Power computations of these eight tests were obtained by Monte Carlo Simulation of sample data generated from alternative distributions that follow symmetric short-tailed, symmetric-long tailed and symmetric distributions. Different tests are powerful for different types of distributions.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Generalized Lambda Distribution, Monte Carlo Simulation.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C361A08-210D-457A-B610-8C9F003ACA72}"/>
              </a:ext>
            </a:extLst>
          </p:cNvPr>
          <p:cNvSpPr txBox="1">
            <a:spLocks/>
          </p:cNvSpPr>
          <p:nvPr/>
        </p:nvSpPr>
        <p:spPr>
          <a:xfrm>
            <a:off x="1595006" y="4116725"/>
            <a:ext cx="9465131" cy="6527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843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F522F-2EB8-4365-9D3A-FEBF9A6B9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553065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B037A-736F-44CD-B128-AC65EF965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53711"/>
            <a:ext cx="9601200" cy="3150812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Normality Tests (2.1 – 2.5)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Simulation (3.1 – 3.2)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Power Analysis of Test Statistics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Discussion of the Results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Conclusion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40597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9C8AF-DAD2-4935-B3B4-7B4F9A1D3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24508"/>
            <a:ext cx="9601200" cy="7321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45A0CA2-5D9F-4CF1-A508-5D1D405340D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78426" y="1775791"/>
            <a:ext cx="10987547" cy="38696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Normality test is a test of checking and confirming whether a sample comes from a normal distribution or not.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Extensive studies on Type I error and power of the eight normality tests have been observed.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power curve comparison has been observed for several types of non-normal distribution for all test statistics.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steeper the power curve of one test statistic, the more the powerful the test statistic is over other test statistics for a specific distribution.     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935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D3597-C0EA-41A6-995B-7DEEF8721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862" y="785257"/>
            <a:ext cx="10280665" cy="487892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Normality Tests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880404" y="1399538"/>
                <a:ext cx="10880035" cy="3528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independently and identically distributed random samples from a continuous univariate distribution with an unknown probability distribution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bar>
                          <m:bar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</m:ba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ba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just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bar>
                          <m:bar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</m:ba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VS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bar>
                          <m:bar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</m:ba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∉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Having same amount of Type I error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all the normality tests should have same probability of rejecting the null hypothesis when sample does not come from normal distribution. </a:t>
                </a:r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404" y="1399538"/>
                <a:ext cx="10880035" cy="3528723"/>
              </a:xfrm>
              <a:prstGeom prst="rect">
                <a:avLst/>
              </a:prstGeom>
              <a:blipFill>
                <a:blip r:embed="rId2"/>
                <a:stretch>
                  <a:fillRect l="-840" t="-1384" r="-896" b="-32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603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1">
            <a:extLst>
              <a:ext uri="{FF2B5EF4-FFF2-40B4-BE49-F238E27FC236}">
                <a16:creationId xmlns:a16="http://schemas.microsoft.com/office/drawing/2014/main" id="{AA2D3597-C0EA-41A6-995B-7DEEF8721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650" y="685800"/>
            <a:ext cx="9886950" cy="73004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Shapiro Wilks (SW) Test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56D0BD-936C-48FB-939E-29419DE9608E}"/>
                  </a:ext>
                </a:extLst>
              </p:cNvPr>
              <p:cNvSpPr txBox="1"/>
              <p:nvPr/>
            </p:nvSpPr>
            <p:spPr>
              <a:xfrm>
                <a:off x="1258957" y="1525570"/>
                <a:ext cx="9886950" cy="430538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342900" indent="-342900" algn="just" defTabSz="914400">
                  <a:lnSpc>
                    <a:spcPct val="94000"/>
                  </a:lnSpc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…,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 vector of ordered random observations from an arbitrary population. </a:t>
                </a:r>
              </a:p>
              <a:p>
                <a:pPr marL="342900" indent="-342900" algn="just" defTabSz="914400">
                  <a:lnSpc>
                    <a:spcPct val="94000"/>
                  </a:lnSpc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endParaRPr lang="en-US" sz="24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84048" indent="-384048" algn="just" defTabSz="914400">
                  <a:lnSpc>
                    <a:spcPct val="94000"/>
                  </a:lnSpc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sz="2400" b="0" i="1" dirty="0">
                  <a:solidFill>
                    <a:schemeClr val="tx2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84048" indent="-384048" algn="just" defTabSz="914400">
                  <a:lnSpc>
                    <a:spcPct val="94000"/>
                  </a:lnSpc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ctrlPr>
                                      <a:rPr lang="en-US" sz="24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24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4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ctrlPr>
                              <a:rPr lang="en-US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24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4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sz="24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sz="24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  <m:r>
                      <a:rPr lang="en-US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		</a:t>
                </a:r>
                <a:r>
                  <a:rPr lang="en-US" sz="24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</a:t>
                </a:r>
                <a:endParaRPr lang="en-US" sz="2400" i="1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84048" indent="-384048" algn="just" defTabSz="914400">
                  <a:lnSpc>
                    <a:spcPct val="94000"/>
                  </a:lnSpc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p>
                                <m:r>
                                  <a:rPr lang="en-US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400" b="0" i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. 				</a:t>
                </a:r>
                <a:r>
                  <a:rPr lang="en-US" sz="2400" b="0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(2)</a:t>
                </a:r>
              </a:p>
              <a:p>
                <a:pPr marL="384048" indent="-384048" algn="just" defTabSz="914400">
                  <a:lnSpc>
                    <a:spcPct val="94000"/>
                  </a:lnSpc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the weights. </a:t>
                </a:r>
              </a:p>
              <a:p>
                <a:pPr marL="384048" indent="-384048" algn="just" defTabSz="914400">
                  <a:lnSpc>
                    <a:spcPct val="94000"/>
                  </a:lnSpc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SW lies between 0 and 1. </a:t>
                </a:r>
              </a:p>
              <a:p>
                <a:pPr marL="384048" indent="-384048" algn="just" defTabSz="914400">
                  <a:lnSpc>
                    <a:spcPct val="94000"/>
                  </a:lnSpc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Small values of SW lead to the rejection of normality, whereas a value of one indicates normality of the data.</a:t>
                </a:r>
              </a:p>
              <a:p>
                <a:pPr lvl="1" algn="just" defTabSz="914400">
                  <a:lnSpc>
                    <a:spcPct val="94000"/>
                  </a:lnSpc>
                  <a:spcAft>
                    <a:spcPts val="200"/>
                  </a:spcAft>
                </a:pPr>
                <a:r>
                  <a:rPr lang="en-US" sz="24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		</a:t>
                </a:r>
              </a:p>
              <a:p>
                <a:pPr marL="384048" indent="-384048" algn="just" defTabSz="914400">
                  <a:lnSpc>
                    <a:spcPct val="94000"/>
                  </a:lnSpc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endParaRPr lang="en-US" sz="24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84048" indent="-384048" algn="just" defTabSz="914400">
                  <a:lnSpc>
                    <a:spcPct val="94000"/>
                  </a:lnSpc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endParaRPr lang="en-US" sz="24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56D0BD-936C-48FB-939E-29419DE96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957" y="1525570"/>
                <a:ext cx="9886950" cy="4305386"/>
              </a:xfrm>
              <a:prstGeom prst="rect">
                <a:avLst/>
              </a:prstGeom>
              <a:blipFill>
                <a:blip r:embed="rId2"/>
                <a:stretch>
                  <a:fillRect l="-864" t="-990" r="-987" b="-1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7417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29BB5-1A0C-4780-A392-0FA200173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730" y="556633"/>
            <a:ext cx="9780120" cy="712156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Kolmogorov Smirnov (KS) Test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7E04C7-10BF-475F-9F26-BDFE68CBCB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59730" y="1494076"/>
                <a:ext cx="9465564" cy="4244115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…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ordered sample of size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the distribution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CDF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EDF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defined as </a:t>
                </a:r>
              </a:p>
              <a:p>
                <a:pPr marL="0" indent="0" algn="just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𝑛𝑜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𝑜𝑓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𝑜𝑏𝑠𝑒𝑟𝑣𝑎𝑡𝑖𝑜𝑛𝑠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≤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		(3)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KS = max(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					(4)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𝐾𝑆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sz="2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𝑢𝑝</m:t>
                          </m:r>
                        </m:e>
                      </m:mr>
                      <m:m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mr>
                    </m:m>
                    <m:d>
                      <m:dPr>
                        <m:begChr m:val="["/>
                        <m:endChr m:val="]"/>
                        <m:ctrlPr>
                          <a:rPr lang="en-US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𝑢𝑝</m:t>
                          </m:r>
                        </m:e>
                      </m:mr>
                      <m:m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mr>
                    </m:m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Large value of KS indicates non-normality of the sample. </a:t>
                </a:r>
              </a:p>
              <a:p>
                <a:pPr marL="0" indent="0"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 </a:t>
                </a:r>
              </a:p>
              <a:p>
                <a:pPr marL="0" indent="0"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7E04C7-10BF-475F-9F26-BDFE68CBCB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59730" y="1494076"/>
                <a:ext cx="9465564" cy="4244115"/>
              </a:xfrm>
              <a:blipFill>
                <a:blip r:embed="rId2"/>
                <a:stretch>
                  <a:fillRect l="-901" t="-1580" r="-1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5C361A08-210D-457A-B610-8C9F003ACA72}"/>
              </a:ext>
            </a:extLst>
          </p:cNvPr>
          <p:cNvSpPr txBox="1">
            <a:spLocks/>
          </p:cNvSpPr>
          <p:nvPr/>
        </p:nvSpPr>
        <p:spPr>
          <a:xfrm>
            <a:off x="1164435" y="4412694"/>
            <a:ext cx="9465131" cy="6527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451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22CD0-F67F-41A6-9FAC-915F5E624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845" y="464574"/>
            <a:ext cx="9601200" cy="629264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 Lilliefors (LL) Test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C0ABBA-DAD7-42F4-AB3B-7DBB2A2B82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1879" y="1093838"/>
                <a:ext cx="11052312" cy="5299588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LL test is a modification of the KS test. </a:t>
                </a:r>
              </a:p>
              <a:p>
                <a:pPr algn="just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test compares the empirical distribution of X with a normal distribution where its unknown mean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standard deviation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estimated from the given sample data. </a:t>
                </a:r>
              </a:p>
              <a:p>
                <a:pPr algn="just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random sample of size 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assumed to be associated with a hypothesized distribution function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unknown parameters. 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LL = max(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𝐿𝐿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𝐿𝐿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						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𝐿𝐿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𝑢𝑝</m:t>
                          </m:r>
                        </m:e>
                      </m:mr>
                      <m:m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mr>
                    </m:m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𝐿𝐿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𝑢𝑝</m:t>
                          </m:r>
                        </m:e>
                      </m:mr>
                      <m:m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mr>
                    </m:m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Large value of LL indicates non-normality of the sample. 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LL test statistic is similar to the KS test except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replaced by sample mean and standard deviation. </a:t>
                </a:r>
              </a:p>
              <a:p>
                <a:pPr algn="just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C0ABBA-DAD7-42F4-AB3B-7DBB2A2B82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1879" y="1093838"/>
                <a:ext cx="11052312" cy="5299588"/>
              </a:xfrm>
              <a:blipFill>
                <a:blip r:embed="rId2"/>
                <a:stretch>
                  <a:fillRect l="-772" t="-1264" r="-883" b="-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0767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98A7C-CF8E-4C3F-9D8F-BFB276F6F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921" y="714067"/>
            <a:ext cx="9837175" cy="553065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2.4 Cramer Von Misses (CVM) Test  </a:t>
            </a:r>
            <a:endParaRPr 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61F044-4729-4143-B632-74E2F2CD6A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3226" y="1550078"/>
                <a:ext cx="10183870" cy="4628535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CVM test is defined by </a:t>
                </a:r>
                <a:endParaRPr lang="en-US" sz="24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987552" lvl="2" indent="0">
                  <a:buNone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nary>
                      <m:nary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b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en-US" sz="2200" dirty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200" b="0" i="0" dirty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sz="2200" dirty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𝐹</m:t>
                                    </m:r>
                                  </m:e>
                                  <m:sup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𝑑𝐹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(5)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(1)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(2)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ordered sample of size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CVM test can also be written as  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CVM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</m:e>
                    </m:nary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(6)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Φ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</m:acc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Φ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standard hypothesized normal distribution of the null hypothesis</a:t>
                </a: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61F044-4729-4143-B632-74E2F2CD6A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3226" y="1550078"/>
                <a:ext cx="10183870" cy="4628535"/>
              </a:xfrm>
              <a:blipFill>
                <a:blip r:embed="rId2"/>
                <a:stretch>
                  <a:fillRect l="-898" t="-14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5291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3CEB5-11DB-4EB2-B538-ADE86CF16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435077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2.5 Anderson Darling (AD) Test</a:t>
            </a:r>
            <a:endParaRPr 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C992E5-1AB7-4EA9-9CD5-C4B9AE0E7D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07165" y="1371599"/>
                <a:ext cx="10561983" cy="5135217"/>
              </a:xfrm>
            </p:spPr>
            <p:txBody>
              <a:bodyPr>
                <a:no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 test gives more weight to the tail of the distribution than the CVM test.</a:t>
                </a:r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The AD test is defined as </a:t>
                </a:r>
              </a:p>
              <a:p>
                <a:pPr marL="0" indent="0">
                  <a:buNone/>
                </a:pPr>
                <a:r>
                  <a:rPr lang="en-US" sz="2400" b="0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𝐴𝐷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− 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𝐹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2400" dirty="0"/>
                  <a:t>				(7)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(1)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(2)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ordered sample of size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AD test can be computed as</a:t>
                </a:r>
              </a:p>
              <a:p>
                <a:pPr marL="0" indent="0">
                  <a:buNone/>
                </a:pPr>
                <a:r>
                  <a:rPr lang="en-US" sz="2400" b="0" dirty="0"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𝐴𝐷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𝑙𝑜𝑔</m:t>
                                    </m:r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log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⁡(1−</m:t>
                                    </m:r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+1−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n			(8)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CDF of the specified distribution and log is the log base e. 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test if the distribution is normal,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Φ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</m:acc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sample mean and sample standard deviation, respectively.   </a:t>
                </a: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C992E5-1AB7-4EA9-9CD5-C4B9AE0E7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7165" y="1371599"/>
                <a:ext cx="10561983" cy="5135217"/>
              </a:xfrm>
              <a:blipFill>
                <a:blip r:embed="rId2"/>
                <a:stretch>
                  <a:fillRect l="-866" t="-13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7302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0BD52-4796-42FE-B021-0C6DB00A3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357" y="260074"/>
            <a:ext cx="9601200" cy="5334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2.6 Chi-Square (CSQ) 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543696-D010-49AB-BD9E-925B85D6D2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9680" y="776214"/>
                <a:ext cx="10987549" cy="5690847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CSQ test is not highly recommended for continuous distribution since it uses only the counts of observations in each cell rather than the observations themselves in computing the test statistic.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:r>
                  <a:rPr lang="en-US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CSQ test is defined as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𝐶𝑆𝑄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p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			(10)</a:t>
                </a:r>
              </a:p>
              <a:p>
                <a:pPr algn="just"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considering equiprobable cells,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j=1,2,…,c, and the CSQ test is</a:t>
                </a:r>
              </a:p>
              <a:p>
                <a:pPr algn="just"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CSQ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p>
                      <m:e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							(11)</a:t>
                </a:r>
              </a:p>
              <a:p>
                <a:pPr marL="0" indent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number of observations that fall in the </a:t>
                </a:r>
                <a:r>
                  <a:rPr lang="en-US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cell and c is the number of equiprobable cell. The optimum number of cells c should be smaller than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=4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𝛼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100(1-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percentile of the standard normal distribution.</a:t>
                </a:r>
              </a:p>
              <a:p>
                <a:pPr algn="just"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parameters to be estimated, CSQ follows a chi-square distribution 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degree of freedom.</a:t>
                </a:r>
              </a:p>
              <a:p>
                <a:pPr algn="just"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543696-D010-49AB-BD9E-925B85D6D2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9680" y="776214"/>
                <a:ext cx="10987549" cy="5690847"/>
              </a:xfrm>
              <a:blipFill>
                <a:blip r:embed="rId2"/>
                <a:stretch>
                  <a:fillRect l="-832" t="-1178" r="-8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978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6A0C7-9F21-4D11-8327-78CB94E79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339" y="390939"/>
            <a:ext cx="5188226" cy="599661"/>
          </a:xfrm>
        </p:spPr>
        <p:txBody>
          <a:bodyPr>
            <a:noAutofit/>
          </a:bodyPr>
          <a:lstStyle/>
          <a:p>
            <a:pPr lvl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2.7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Jarque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(JB) Test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11DB5BD-C5C4-42F7-9DFB-5CF6677E3C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11686" y="1247467"/>
                <a:ext cx="10545096" cy="4363065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JB test statistic is defined as</a:t>
                </a:r>
              </a:p>
              <a:p>
                <a:pPr marL="0" indent="0" algn="just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JB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</m:e>
                                </m:d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−3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24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				(12)</a:t>
                </a:r>
              </a:p>
              <a:p>
                <a:pPr marL="0" indent="0" algn="just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skewness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kurtosis. </a:t>
                </a:r>
              </a:p>
              <a:p>
                <a:pPr marL="0" indent="0"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Large values of the skewness and kurtosis values far from 3 lead to the rejection of the null hypothesis of normality.</a:t>
                </a:r>
              </a:p>
              <a:p>
                <a:pPr marL="0" indent="0"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11DB5BD-C5C4-42F7-9DFB-5CF6677E3C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11686" y="1247467"/>
                <a:ext cx="10545096" cy="4363065"/>
              </a:xfrm>
              <a:blipFill>
                <a:blip r:embed="rId2"/>
                <a:stretch>
                  <a:fillRect l="-867" t="-1538" r="-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4567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8E9AC-2F4F-4746-A6D9-1CFD55CAF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473766"/>
            <a:ext cx="9601200" cy="65267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2.8 D’Agostino Pearson (DP) Omnibus Test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C7243F-812A-4C72-8184-EEBA8CCB57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399" y="1164535"/>
                <a:ext cx="9915939" cy="4528930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>
                    <a:latin typeface="Cambria Math" panose="02040503050406030204" pitchFamily="18" charset="0"/>
                  </a:rPr>
                  <a:t>DP test is proposed as 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Cambria Math" panose="02040503050406030204" pitchFamily="18" charset="0"/>
                  </a:rPr>
                  <a:t>			DP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latin typeface="Cambria Math" panose="02040503050406030204" pitchFamily="18" charset="0"/>
                  </a:rPr>
                  <a:t>			(13)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Cambria Math" panose="020405030504060302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e>
                    </m:d>
                  </m:oMath>
                </a14:m>
                <a:r>
                  <a:rPr lang="en-US" sz="2400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latin typeface="Cambria Math" panose="02040503050406030204" pitchFamily="18" charset="0"/>
                  </a:rPr>
                  <a:t> are the normal approximations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sz="2400" dirty="0">
                    <a:latin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2400" dirty="0">
                  <a:latin typeface="Cambria Math" panose="02040503050406030204" pitchFamily="18" charset="0"/>
                </a:endParaRP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an omnibus test of detecting deviations from normality due to either skewness or kurtosis.</a:t>
                </a: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C7243F-812A-4C72-8184-EEBA8CCB57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399" y="1164535"/>
                <a:ext cx="9915939" cy="4528930"/>
              </a:xfrm>
              <a:blipFill>
                <a:blip r:embed="rId2"/>
                <a:stretch>
                  <a:fillRect l="-922" t="-1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3967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B9F39-056E-4C22-A5AE-298C233AE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654" y="487017"/>
            <a:ext cx="4705346" cy="467140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Simulation Methodology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75FAB9-6378-4EE8-9B37-0BF7E9F623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2365" y="954156"/>
                <a:ext cx="11118574" cy="5592417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testing if a random sample of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independent and identically distributed observations comes from the Normal distribution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We used Monte Carlo simulation to evaluate the power of SW, KS, LL, AD, CVM, DP, JB and CSQ test statistics. 		</a:t>
                </a:r>
              </a:p>
              <a:p>
                <a:pPr algn="just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Level of significance: 	5 %</a:t>
                </a:r>
              </a:p>
              <a:p>
                <a:pPr algn="just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 Sized Samples : 	10, 15, 20, 25, 30, 50, 100, </a:t>
                </a:r>
              </a:p>
              <a:p>
                <a:pPr marL="0" indent="0" algn="just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200, 300, 400, 500, 1000, 2000.</a:t>
                </a:r>
              </a:p>
              <a:p>
                <a:pPr algn="just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50,000 generated random samples give values of each test statistic which are ordered to get the empirical critical value for each test statistic.   </a:t>
                </a:r>
              </a:p>
              <a:p>
                <a:pPr algn="just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100(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percentile is considered as the critical value for the SW test, 100(1-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percentile for the LL, AD, CVM, DP, JB tests and 100(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well as 100(1-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percentile for the KS test.</a:t>
                </a:r>
              </a:p>
              <a:p>
                <a:pPr algn="just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75FAB9-6378-4EE8-9B37-0BF7E9F623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2365" y="954156"/>
                <a:ext cx="11118574" cy="5592417"/>
              </a:xfrm>
              <a:blipFill>
                <a:blip r:embed="rId2"/>
                <a:stretch>
                  <a:fillRect l="-768" t="-1200" r="-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1505F5E-8E05-45CA-9832-EC9E5A1298B2}"/>
              </a:ext>
            </a:extLst>
          </p:cNvPr>
          <p:cNvSpPr txBox="1"/>
          <p:nvPr/>
        </p:nvSpPr>
        <p:spPr>
          <a:xfrm>
            <a:off x="7977809" y="2045949"/>
            <a:ext cx="39491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each sized sample </a:t>
            </a:r>
          </a:p>
          <a:p>
            <a:r>
              <a:rPr lang="en-US" dirty="0"/>
              <a:t>	1:Simulation=50000</a:t>
            </a:r>
          </a:p>
          <a:p>
            <a:r>
              <a:rPr lang="en-US" dirty="0"/>
              <a:t>		x=N(0,1)</a:t>
            </a:r>
          </a:p>
          <a:p>
            <a:r>
              <a:rPr lang="en-US" dirty="0"/>
              <a:t>		</a:t>
            </a:r>
            <a:r>
              <a:rPr lang="en-US" dirty="0" err="1"/>
              <a:t>Each_TS</a:t>
            </a:r>
            <a:r>
              <a:rPr lang="en-US" dirty="0"/>
              <a:t> = </a:t>
            </a:r>
            <a:r>
              <a:rPr lang="en-US" dirty="0" err="1"/>
              <a:t>Test_Stat</a:t>
            </a:r>
            <a:r>
              <a:rPr lang="en-US" dirty="0"/>
              <a:t>(x)</a:t>
            </a:r>
          </a:p>
          <a:p>
            <a:r>
              <a:rPr lang="en-US" dirty="0"/>
              <a:t>	</a:t>
            </a:r>
            <a:r>
              <a:rPr lang="en-US" dirty="0" err="1"/>
              <a:t>Each_TS_NCritical</a:t>
            </a:r>
            <a:r>
              <a:rPr lang="en-US" dirty="0"/>
              <a:t>=sort(</a:t>
            </a:r>
            <a:r>
              <a:rPr lang="en-US" dirty="0" err="1"/>
              <a:t>Each_TS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43683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22461-AFE3-43E0-939B-6569C62CF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652" y="447261"/>
            <a:ext cx="10045148" cy="4273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Methodology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C5B84C-F1F9-43DD-BD70-2F2BFD4F5F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2366" y="1134717"/>
                <a:ext cx="11317356" cy="5517874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generated 10,000 random samples were drawn from each alternative distribution (non-normal). The 10,000 random samples gave 10,000 values of each test statistic which were observed to see the power or percentage of times it rejects the 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bar>
                          <m:bar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</m:ba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400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endParaRPr lang="en-US" sz="24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24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Symmetric Short-tailed Distributions [Table-2: Uniform: U(0,1), Tukey(0,1,1.25,1.25), 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Trunc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(−2,2),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Fig 1: GLD(0,1,0.75,0.75), GLD(0,1,0.5,0.5), GLD(0,1,0.25,0.25)].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Symmetric long-tailed distributions [Figure-2: GLD(0,1,−0.10,−0.10), GLD(0,1,−0.15,−0.15), Scale Contaminated Normal: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ScConN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(0.05,3), Table-3: t(15), Logistic, Laplace].</a:t>
                </a:r>
              </a:p>
              <a:p>
                <a:pPr algn="just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Asymmetric distributions [Figure-3: CHI(4df), Beta(2,1), Weibull(3,1), Lognormal, Location Contaminated Normal: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LoConN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(0.2,3)].</a:t>
                </a:r>
              </a:p>
              <a:p>
                <a:pPr algn="just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24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algn="just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C5B84C-F1F9-43DD-BD70-2F2BFD4F5F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2366" y="1134717"/>
                <a:ext cx="11317356" cy="5517874"/>
              </a:xfrm>
              <a:blipFill>
                <a:blip r:embed="rId2"/>
                <a:stretch>
                  <a:fillRect l="-754" t="-1215" r="-8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47112A-96D7-4BB4-B1A9-98DB7BB83649}"/>
                  </a:ext>
                </a:extLst>
              </p:cNvPr>
              <p:cNvSpPr txBox="1"/>
              <p:nvPr/>
            </p:nvSpPr>
            <p:spPr>
              <a:xfrm>
                <a:off x="4956314" y="2177428"/>
                <a:ext cx="7063408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 each sized sample </a:t>
                </a:r>
              </a:p>
              <a:p>
                <a:r>
                  <a:rPr lang="en-US" dirty="0"/>
                  <a:t>	1:Simulation=10000</a:t>
                </a:r>
              </a:p>
              <a:p>
                <a:r>
                  <a:rPr lang="en-US" dirty="0"/>
                  <a:t>		y=</a:t>
                </a:r>
                <a:r>
                  <a:rPr lang="en-US" dirty="0" err="1"/>
                  <a:t>NonNormal</a:t>
                </a:r>
                <a:r>
                  <a:rPr lang="en-US" dirty="0"/>
                  <a:t>(l1,l2,l3,l4)</a:t>
                </a:r>
              </a:p>
              <a:p>
                <a:r>
                  <a:rPr lang="en-US" dirty="0"/>
                  <a:t>		</a:t>
                </a:r>
                <a:r>
                  <a:rPr lang="en-US" dirty="0" err="1"/>
                  <a:t>Each_TS_NN</a:t>
                </a:r>
                <a:r>
                  <a:rPr lang="en-US" dirty="0"/>
                  <a:t> = </a:t>
                </a:r>
                <a:r>
                  <a:rPr lang="en-US" dirty="0" err="1"/>
                  <a:t>Test_Stat</a:t>
                </a:r>
                <a:r>
                  <a:rPr lang="en-US" dirty="0"/>
                  <a:t>(y)</a:t>
                </a:r>
              </a:p>
              <a:p>
                <a:r>
                  <a:rPr lang="en-US" dirty="0"/>
                  <a:t>	</a:t>
                </a:r>
                <a:r>
                  <a:rPr lang="en-US" dirty="0" err="1"/>
                  <a:t>Power_TS_NNCritical</a:t>
                </a:r>
                <a:r>
                  <a:rPr lang="en-US" dirty="0"/>
                  <a:t>=Mean(</a:t>
                </a:r>
                <a:r>
                  <a:rPr lang="en-US" dirty="0" err="1"/>
                  <a:t>Each_TS_NN</a:t>
                </a:r>
                <a:r>
                  <a:rPr lang="en-US" dirty="0"/>
                  <a:t>&lt;|&gt;|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Critical </a:t>
                </a:r>
                <a:r>
                  <a:rPr lang="en-US" dirty="0" err="1"/>
                  <a:t>Each_TS</a:t>
                </a:r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47112A-96D7-4BB4-B1A9-98DB7BB83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314" y="2177428"/>
                <a:ext cx="7063408" cy="1477328"/>
              </a:xfrm>
              <a:prstGeom prst="rect">
                <a:avLst/>
              </a:prstGeom>
              <a:blipFill>
                <a:blip r:embed="rId3"/>
                <a:stretch>
                  <a:fillRect l="-690" t="-2058" b="-5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344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09EFF-C739-4AD5-B9FA-A2A6A1EA0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909" y="353630"/>
            <a:ext cx="6468100" cy="600527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Power Analyses of Tests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FED13-6EA0-4B52-8705-F91A266BC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94" y="1120877"/>
            <a:ext cx="10871012" cy="538349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8F8810-9E2C-4049-940B-A4213C9B394F}"/>
              </a:ext>
            </a:extLst>
          </p:cNvPr>
          <p:cNvSpPr/>
          <p:nvPr/>
        </p:nvSpPr>
        <p:spPr>
          <a:xfrm>
            <a:off x="1204909" y="1284309"/>
            <a:ext cx="10655787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is the Probability of Rejecting the Null Hypothesis when it is false.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test statistic is said to be powerful when it has a high probability of rejecting the null hypothesis when the sample under the study is taken from a non-normal distribution.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simulations results show that DP (omnibus), SW tests have better power for  short tailed symmetric distributions.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symmetric long tailed distributions, JB, AD, DP tests are more powerful.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 and AD tests are the top two most powerful tests.  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877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09EFF-C739-4AD5-B9FA-A2A6A1EA0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909" y="353630"/>
            <a:ext cx="6468100" cy="600527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Discussions of the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FED13-6EA0-4B52-8705-F91A266BC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4908" y="1120877"/>
            <a:ext cx="10326597" cy="5383493"/>
          </a:xfrm>
        </p:spPr>
        <p:txBody>
          <a:bodyPr>
            <a:noAutofit/>
          </a:bodyPr>
          <a:lstStyle/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 the Presentation html file for a Summary of our Results and Comparison with the paper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8F8810-9E2C-4049-940B-A4213C9B394F}"/>
              </a:ext>
            </a:extLst>
          </p:cNvPr>
          <p:cNvSpPr/>
          <p:nvPr/>
        </p:nvSpPr>
        <p:spPr>
          <a:xfrm>
            <a:off x="1204909" y="1284309"/>
            <a:ext cx="1065578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070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B2231-762C-452F-B407-2016A54A5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1291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646E7-A928-4D09-AE95-EF5F60D3A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912" y="1298713"/>
            <a:ext cx="10601739" cy="474924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Covered in discussion of Presentation html</a:t>
            </a:r>
          </a:p>
        </p:txBody>
      </p:sp>
    </p:spTree>
    <p:extLst>
      <p:ext uri="{BB962C8B-B14F-4D97-AF65-F5344CB8AC3E}">
        <p14:creationId xmlns:p14="http://schemas.microsoft.com/office/powerpoint/2010/main" val="1563224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4ADC1-1D16-42C9-994F-C68CE4E70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83500"/>
            <a:ext cx="9601200" cy="492361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D77BD-BA41-4A1A-B4C7-7CD201A5A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155" y="675861"/>
            <a:ext cx="10972800" cy="5998639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Yap, Bee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Chiaw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Hock Sim. "Comparisons of various types of normality tests." Journal of Statistical Computation and Simulation 81.12 (2011): 2141-2155.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Rizzo, Maria L. Statistical computing with R. CRC Press, 2019.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Packages cited in Presentation html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830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49BC34D-9C23-4D6D-8213-1F471AF8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FA0F5D6C-5025-4D7E-82DD-C2C6FDA1E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2AF2C17-4AB4-4402-B84B-129EF95D1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5E2277-859C-4BA1-8883-CEE702973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2209" y="1987827"/>
            <a:ext cx="5857461" cy="155050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000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Thank you!</a:t>
            </a:r>
            <a:br>
              <a:rPr lang="en-US" sz="4000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Questions Please!!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316566F-BF23-4854-8FC7-9AC304562D3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05675" y="932923"/>
            <a:ext cx="3415614" cy="42272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16633268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TM10001105[[fn=Crop]]</Template>
  <TotalTime>25019</TotalTime>
  <Words>1842</Words>
  <Application>Microsoft Office PowerPoint</Application>
  <PresentationFormat>Widescreen</PresentationFormat>
  <Paragraphs>175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Cambria Math</vt:lpstr>
      <vt:lpstr>Franklin Gothic Book</vt:lpstr>
      <vt:lpstr>Times New Roman</vt:lpstr>
      <vt:lpstr>Wingdings</vt:lpstr>
      <vt:lpstr>Crop</vt:lpstr>
      <vt:lpstr>Comparison of various types of normality tests</vt:lpstr>
      <vt:lpstr>Abstract</vt:lpstr>
      <vt:lpstr>Outline</vt:lpstr>
      <vt:lpstr>1. Introduction </vt:lpstr>
      <vt:lpstr>2. Normality Tests</vt:lpstr>
      <vt:lpstr>2.1 Shapiro Wilks (SW) Test</vt:lpstr>
      <vt:lpstr>2.2 Kolmogorov Smirnov (KS) Test</vt:lpstr>
      <vt:lpstr>2.3 Lilliefors (LL) Test </vt:lpstr>
      <vt:lpstr>2.4 Cramer Von Misses (CVM) Test  </vt:lpstr>
      <vt:lpstr>2.5 Anderson Darling (AD) Test</vt:lpstr>
      <vt:lpstr>2.6 Chi-Square (CSQ) Test</vt:lpstr>
      <vt:lpstr>2.7 Jarque and Bera (JB) Test</vt:lpstr>
      <vt:lpstr>2.8 D’Agostino Pearson (DP) Omnibus Test</vt:lpstr>
      <vt:lpstr>3.  Simulation Methodology</vt:lpstr>
      <vt:lpstr>Simulation Methodology </vt:lpstr>
      <vt:lpstr>4. Power Analyses of Tests Statistics</vt:lpstr>
      <vt:lpstr>5. Discussions of the Results</vt:lpstr>
      <vt:lpstr>6. Conclusion</vt:lpstr>
      <vt:lpstr>References</vt:lpstr>
      <vt:lpstr>   Thank you!    Questions Please!!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Generalization to the Leibnitz Theorem and its Application in Distribution</dc:title>
  <dc:creator>Silvia Irin Sharna</dc:creator>
  <cp:lastModifiedBy>Kara Godsey</cp:lastModifiedBy>
  <cp:revision>442</cp:revision>
  <dcterms:created xsi:type="dcterms:W3CDTF">2020-03-27T04:04:58Z</dcterms:created>
  <dcterms:modified xsi:type="dcterms:W3CDTF">2021-12-13T18:07:35Z</dcterms:modified>
</cp:coreProperties>
</file>